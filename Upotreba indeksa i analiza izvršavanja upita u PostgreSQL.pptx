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102" y="-3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B020F31A-AF8A-4E1A-BB82-96351FD21706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8A759676-B6C6-43D0-A9C8-A9AA1913582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020F31A-AF8A-4E1A-BB82-96351FD21706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A759676-B6C6-43D0-A9C8-A9AA1913582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B020F31A-AF8A-4E1A-BB82-96351FD21706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8A759676-B6C6-43D0-A9C8-A9AA1913582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F31A-AF8A-4E1A-BB82-96351FD21706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9676-B6C6-43D0-A9C8-A9AA1913582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F31A-AF8A-4E1A-BB82-96351FD21706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9676-B6C6-43D0-A9C8-A9AA1913582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020F31A-AF8A-4E1A-BB82-96351FD21706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A759676-B6C6-43D0-A9C8-A9AA191358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F31A-AF8A-4E1A-BB82-96351FD21706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9676-B6C6-43D0-A9C8-A9AA19135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020F31A-AF8A-4E1A-BB82-96351FD21706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A759676-B6C6-43D0-A9C8-A9AA19135820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020F31A-AF8A-4E1A-BB82-96351FD21706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A759676-B6C6-43D0-A9C8-A9AA19135820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F31A-AF8A-4E1A-BB82-96351FD21706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9676-B6C6-43D0-A9C8-A9AA19135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F31A-AF8A-4E1A-BB82-96351FD21706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9676-B6C6-43D0-A9C8-A9AA19135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B020F31A-AF8A-4E1A-BB82-96351FD21706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8A759676-B6C6-43D0-A9C8-A9AA1913582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667000"/>
            <a:ext cx="6172200" cy="18943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Upotreba</a:t>
            </a:r>
            <a:r>
              <a:rPr lang="en-US" dirty="0"/>
              <a:t> </a:t>
            </a:r>
            <a:r>
              <a:rPr lang="en-US" dirty="0" err="1"/>
              <a:t>indeksa</a:t>
            </a:r>
            <a:r>
              <a:rPr lang="en-US" dirty="0"/>
              <a:t> i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izvršavanja</a:t>
            </a:r>
            <a:r>
              <a:rPr lang="en-US" dirty="0"/>
              <a:t> </a:t>
            </a:r>
            <a:r>
              <a:rPr lang="en-US" dirty="0" err="1"/>
              <a:t>upita</a:t>
            </a:r>
            <a:r>
              <a:rPr lang="en-US" dirty="0"/>
              <a:t> u </a:t>
            </a:r>
            <a:r>
              <a:rPr lang="en-US" dirty="0" err="1"/>
              <a:t>PostgreSQL</a:t>
            </a:r>
            <a:r>
              <a:rPr lang="en-US" dirty="0"/>
              <a:t> </a:t>
            </a:r>
            <a:r>
              <a:rPr lang="en-US" dirty="0" err="1"/>
              <a:t>bazi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Student: </a:t>
            </a:r>
            <a:r>
              <a:rPr lang="en-US" dirty="0" err="1" smtClean="0"/>
              <a:t>Neda</a:t>
            </a:r>
            <a:r>
              <a:rPr lang="en-US" dirty="0" smtClean="0"/>
              <a:t> </a:t>
            </a:r>
            <a:r>
              <a:rPr lang="en-US" dirty="0" err="1" smtClean="0"/>
              <a:t>Radovanović</a:t>
            </a:r>
            <a:r>
              <a:rPr lang="en-US" dirty="0" smtClean="0"/>
              <a:t>, 2006</a:t>
            </a:r>
          </a:p>
          <a:p>
            <a:r>
              <a:rPr lang="en-US" dirty="0" smtClean="0"/>
              <a:t>Mentor: </a:t>
            </a:r>
            <a:r>
              <a:rPr lang="en-US" dirty="0" err="1" smtClean="0"/>
              <a:t>Aleksandar</a:t>
            </a:r>
            <a:r>
              <a:rPr lang="en-US" dirty="0" smtClean="0"/>
              <a:t> </a:t>
            </a:r>
            <a:r>
              <a:rPr lang="en-US" dirty="0" err="1" smtClean="0"/>
              <a:t>Stanimirović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162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Uvod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001833"/>
            <a:ext cx="7467600" cy="4873752"/>
          </a:xfrm>
        </p:spPr>
        <p:txBody>
          <a:bodyPr/>
          <a:lstStyle/>
          <a:p>
            <a:r>
              <a:rPr lang="pl-PL" dirty="0"/>
              <a:t>Velike baze podataka zahtevaju efikasnu obradu </a:t>
            </a:r>
            <a:r>
              <a:rPr lang="pl-PL" dirty="0" smtClean="0"/>
              <a:t>podataka</a:t>
            </a:r>
            <a:endParaRPr lang="en-US" dirty="0" smtClean="0"/>
          </a:p>
          <a:p>
            <a:r>
              <a:rPr lang="sv-SE" dirty="0"/>
              <a:t>Problem sporog izvršavanja SQL </a:t>
            </a:r>
            <a:r>
              <a:rPr lang="sv-SE" dirty="0" smtClean="0"/>
              <a:t>upita</a:t>
            </a:r>
          </a:p>
          <a:p>
            <a:r>
              <a:rPr lang="sv-SE" dirty="0" smtClean="0"/>
              <a:t>Indeksi omogućavaju brži pristup podacima i optimizaciju performansi</a:t>
            </a:r>
          </a:p>
          <a:p>
            <a:r>
              <a:rPr lang="en-US" dirty="0" err="1"/>
              <a:t>PostgreSQL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optimizer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izbor</a:t>
            </a:r>
            <a:r>
              <a:rPr lang="en-US" dirty="0"/>
              <a:t> </a:t>
            </a:r>
            <a:r>
              <a:rPr lang="en-US" dirty="0" err="1"/>
              <a:t>plana</a:t>
            </a:r>
            <a:r>
              <a:rPr lang="en-US" dirty="0"/>
              <a:t> </a:t>
            </a:r>
            <a:r>
              <a:rPr lang="en-US" dirty="0" err="1"/>
              <a:t>izvršavanja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535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Šta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r>
              <a:rPr lang="en-US" dirty="0" smtClean="0"/>
              <a:t> </a:t>
            </a:r>
            <a:r>
              <a:rPr lang="en-US" dirty="0" err="1" smtClean="0"/>
              <a:t>indeksi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l-PL" dirty="0"/>
              <a:t>Posebne strukture podataka za optimizaciju </a:t>
            </a:r>
            <a:r>
              <a:rPr lang="pl-PL" dirty="0" smtClean="0"/>
              <a:t>pretrage</a:t>
            </a:r>
            <a:endParaRPr lang="en-US" dirty="0" smtClean="0"/>
          </a:p>
          <a:p>
            <a:r>
              <a:rPr lang="en-US" dirty="0" err="1"/>
              <a:t>Omogućavaju</a:t>
            </a:r>
            <a:r>
              <a:rPr lang="en-US" dirty="0"/>
              <a:t> </a:t>
            </a:r>
            <a:r>
              <a:rPr lang="en-US" dirty="0" err="1"/>
              <a:t>efikasniji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 smtClean="0"/>
              <a:t>podacima</a:t>
            </a:r>
            <a:endParaRPr lang="en-US" dirty="0" smtClean="0"/>
          </a:p>
          <a:p>
            <a:r>
              <a:rPr lang="en-US" dirty="0" err="1"/>
              <a:t>Smanjuju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 </a:t>
            </a:r>
            <a:r>
              <a:rPr lang="en-US" dirty="0" err="1"/>
              <a:t>tokom</a:t>
            </a:r>
            <a:r>
              <a:rPr lang="en-US" dirty="0"/>
              <a:t> </a:t>
            </a:r>
            <a:r>
              <a:rPr lang="en-US" dirty="0" err="1"/>
              <a:t>izvršavanja</a:t>
            </a:r>
            <a:r>
              <a:rPr lang="en-US" dirty="0"/>
              <a:t> </a:t>
            </a:r>
            <a:r>
              <a:rPr lang="en-US" dirty="0" err="1" smtClean="0"/>
              <a:t>upita</a:t>
            </a:r>
            <a:endParaRPr lang="en-US" dirty="0" smtClean="0"/>
          </a:p>
          <a:p>
            <a:r>
              <a:rPr lang="en-US" dirty="0" err="1"/>
              <a:t>Sekvencijalna</a:t>
            </a:r>
            <a:r>
              <a:rPr lang="en-US" dirty="0"/>
              <a:t> </a:t>
            </a:r>
            <a:r>
              <a:rPr lang="en-US" dirty="0" err="1"/>
              <a:t>pretraga</a:t>
            </a:r>
            <a:r>
              <a:rPr lang="en-US" dirty="0"/>
              <a:t>: O(n</a:t>
            </a:r>
            <a:r>
              <a:rPr lang="en-US" dirty="0" smtClean="0"/>
              <a:t>)</a:t>
            </a:r>
          </a:p>
          <a:p>
            <a:r>
              <a:rPr lang="pt-BR" dirty="0"/>
              <a:t>Pretraga pomoću indeksa: O(log n)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419600"/>
            <a:ext cx="7152503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874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Prednosti</a:t>
            </a:r>
            <a:r>
              <a:rPr lang="en-US" dirty="0" smtClean="0"/>
              <a:t> i </a:t>
            </a:r>
            <a:r>
              <a:rPr lang="en-US" dirty="0" err="1" smtClean="0"/>
              <a:t>nedostaci</a:t>
            </a:r>
            <a:r>
              <a:rPr lang="en-US" dirty="0" smtClean="0"/>
              <a:t> </a:t>
            </a:r>
            <a:r>
              <a:rPr lang="en-US" dirty="0" err="1" smtClean="0"/>
              <a:t>indeksa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Prednosti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/>
              <a:t>brže</a:t>
            </a:r>
            <a:r>
              <a:rPr lang="en-US" dirty="0"/>
              <a:t> </a:t>
            </a:r>
            <a:r>
              <a:rPr lang="en-US" dirty="0" err="1"/>
              <a:t>izvršavanje</a:t>
            </a:r>
            <a:r>
              <a:rPr lang="en-US" dirty="0"/>
              <a:t> SELECT </a:t>
            </a:r>
            <a:r>
              <a:rPr lang="en-US" dirty="0" err="1" smtClean="0"/>
              <a:t>upita</a:t>
            </a:r>
            <a:endParaRPr lang="en-US" dirty="0" smtClean="0"/>
          </a:p>
          <a:p>
            <a:pPr lvl="1"/>
            <a:r>
              <a:rPr lang="en-US" dirty="0" err="1"/>
              <a:t>efikasnije</a:t>
            </a:r>
            <a:r>
              <a:rPr lang="en-US" dirty="0"/>
              <a:t> </a:t>
            </a:r>
            <a:r>
              <a:rPr lang="en-US" dirty="0" err="1"/>
              <a:t>filtriranje</a:t>
            </a:r>
            <a:r>
              <a:rPr lang="en-US" dirty="0"/>
              <a:t> i </a:t>
            </a:r>
            <a:r>
              <a:rPr lang="en-US" dirty="0" err="1" smtClean="0"/>
              <a:t>sortiranje</a:t>
            </a:r>
            <a:endParaRPr lang="en-US" dirty="0" smtClean="0"/>
          </a:p>
          <a:p>
            <a:pPr lvl="1"/>
            <a:r>
              <a:rPr lang="en-US" dirty="0" err="1"/>
              <a:t>bolje</a:t>
            </a:r>
            <a:r>
              <a:rPr lang="en-US" dirty="0"/>
              <a:t> </a:t>
            </a:r>
            <a:r>
              <a:rPr lang="en-US" dirty="0" err="1"/>
              <a:t>performanse</a:t>
            </a:r>
            <a:r>
              <a:rPr lang="en-US" dirty="0"/>
              <a:t> JOIN </a:t>
            </a:r>
            <a:r>
              <a:rPr lang="en-US" dirty="0" err="1" smtClean="0"/>
              <a:t>operacija</a:t>
            </a:r>
            <a:endParaRPr lang="en-US" dirty="0" smtClean="0"/>
          </a:p>
          <a:p>
            <a:r>
              <a:rPr lang="en-US" dirty="0" err="1" smtClean="0"/>
              <a:t>Nedostaci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/>
              <a:t>dodatno</a:t>
            </a:r>
            <a:r>
              <a:rPr lang="en-US" dirty="0"/>
              <a:t> </a:t>
            </a:r>
            <a:r>
              <a:rPr lang="en-US" dirty="0" err="1"/>
              <a:t>zauzeće</a:t>
            </a:r>
            <a:r>
              <a:rPr lang="en-US" dirty="0"/>
              <a:t> </a:t>
            </a:r>
            <a:r>
              <a:rPr lang="en-US" dirty="0" err="1"/>
              <a:t>memorijskog</a:t>
            </a:r>
            <a:r>
              <a:rPr lang="en-US" dirty="0"/>
              <a:t> </a:t>
            </a:r>
            <a:r>
              <a:rPr lang="en-US" dirty="0" err="1" smtClean="0"/>
              <a:t>prostora</a:t>
            </a:r>
            <a:endParaRPr lang="en-US" dirty="0" smtClean="0"/>
          </a:p>
          <a:p>
            <a:pPr lvl="1"/>
            <a:r>
              <a:rPr lang="nn-NO" dirty="0"/>
              <a:t>sporiji INSERT, UPDATE i </a:t>
            </a:r>
            <a:r>
              <a:rPr lang="nn-NO" dirty="0" smtClean="0"/>
              <a:t>DELETE</a:t>
            </a:r>
          </a:p>
          <a:p>
            <a:pPr lvl="1"/>
            <a:r>
              <a:rPr lang="en-US" dirty="0" err="1"/>
              <a:t>potreba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održavanjem</a:t>
            </a:r>
            <a:r>
              <a:rPr lang="en-US" dirty="0"/>
              <a:t> </a:t>
            </a:r>
            <a:r>
              <a:rPr lang="en-US" dirty="0" err="1" smtClean="0"/>
              <a:t>indeksa</a:t>
            </a:r>
            <a:endParaRPr lang="en-US" dirty="0" smtClean="0"/>
          </a:p>
          <a:p>
            <a:r>
              <a:rPr lang="vi-VN" dirty="0"/>
              <a:t>Indeksi predstavljaju kompromis između brzine čitanja i brzine izmene </a:t>
            </a:r>
            <a:r>
              <a:rPr lang="vi-VN" dirty="0" smtClean="0"/>
              <a:t>podataka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372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Tipovi</a:t>
            </a:r>
            <a:r>
              <a:rPr lang="en-US" dirty="0" smtClean="0"/>
              <a:t> </a:t>
            </a:r>
            <a:r>
              <a:rPr lang="en-US" dirty="0" err="1" smtClean="0"/>
              <a:t>indeksa</a:t>
            </a:r>
            <a:r>
              <a:rPr lang="en-US" dirty="0" smtClean="0"/>
              <a:t> u </a:t>
            </a:r>
            <a:r>
              <a:rPr lang="en-US" dirty="0" err="1" smtClean="0"/>
              <a:t>PostgreSQL</a:t>
            </a:r>
            <a:r>
              <a:rPr lang="en-US" dirty="0" smtClean="0"/>
              <a:t>-u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992475996"/>
              </p:ext>
            </p:extLst>
          </p:nvPr>
        </p:nvGraphicFramePr>
        <p:xfrm>
          <a:off x="457200" y="1600200"/>
          <a:ext cx="762000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Tip </a:t>
                      </a:r>
                      <a:r>
                        <a:rPr lang="en-US" dirty="0" err="1" smtClean="0"/>
                        <a:t>indeksa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Tipična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primena</a:t>
                      </a:r>
                      <a:endParaRPr lang="en-US" dirty="0"/>
                    </a:p>
                  </a:txBody>
                  <a:tcPr anchor="ctr"/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B-tree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WHERE, ORDER BY, JOIN</a:t>
                      </a:r>
                      <a:endParaRPr lang="en-US" dirty="0"/>
                    </a:p>
                  </a:txBody>
                  <a:tcPr anchor="ctr"/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Hash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Pretraga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po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jednakosti</a:t>
                      </a:r>
                      <a:r>
                        <a:rPr lang="en-US" dirty="0" smtClean="0"/>
                        <a:t> (=)</a:t>
                      </a:r>
                      <a:endParaRPr lang="en-US" dirty="0"/>
                    </a:p>
                  </a:txBody>
                  <a:tcPr anchor="ctr"/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GIN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JSONB, full-text search</a:t>
                      </a:r>
                      <a:endParaRPr lang="en-US" dirty="0"/>
                    </a:p>
                  </a:txBody>
                  <a:tcPr anchor="ctr"/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GiST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Prostorni</a:t>
                      </a:r>
                      <a:r>
                        <a:rPr lang="en-US" dirty="0" smtClean="0"/>
                        <a:t> i </a:t>
                      </a:r>
                      <a:r>
                        <a:rPr lang="en-US" dirty="0" err="1" smtClean="0"/>
                        <a:t>geometrijski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podaci</a:t>
                      </a:r>
                      <a:endParaRPr lang="en-US" dirty="0"/>
                    </a:p>
                  </a:txBody>
                  <a:tcPr anchor="ctr"/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BRIN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Veoma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velike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tabele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463062" y="4577862"/>
            <a:ext cx="7467600" cy="2286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B-tree je </a:t>
            </a:r>
            <a:r>
              <a:rPr lang="en-US" dirty="0" err="1" smtClean="0"/>
              <a:t>najčešće</a:t>
            </a:r>
            <a:r>
              <a:rPr lang="en-US" dirty="0" smtClean="0"/>
              <a:t> </a:t>
            </a:r>
            <a:r>
              <a:rPr lang="en-US" dirty="0" err="1" smtClean="0"/>
              <a:t>korišćen</a:t>
            </a:r>
            <a:endParaRPr lang="en-US" dirty="0" smtClean="0"/>
          </a:p>
          <a:p>
            <a:r>
              <a:rPr lang="en-US" dirty="0" err="1" smtClean="0"/>
              <a:t>Ostali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specijalne</a:t>
            </a:r>
            <a:r>
              <a:rPr lang="en-US" dirty="0" smtClean="0"/>
              <a:t> </a:t>
            </a:r>
            <a:r>
              <a:rPr lang="en-US" dirty="0" err="1" smtClean="0"/>
              <a:t>slučajeve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567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EXPLAIN I EXPLAIN ANALYZE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Prikaz</a:t>
            </a:r>
            <a:r>
              <a:rPr lang="en-US" dirty="0" smtClean="0"/>
              <a:t> </a:t>
            </a:r>
            <a:r>
              <a:rPr lang="en-US" dirty="0"/>
              <a:t>execution </a:t>
            </a:r>
            <a:r>
              <a:rPr lang="en-US" dirty="0" smtClean="0"/>
              <a:t>plan-a</a:t>
            </a:r>
          </a:p>
          <a:p>
            <a:r>
              <a:rPr lang="en-US" dirty="0" err="1" smtClean="0"/>
              <a:t>Analiza</a:t>
            </a:r>
            <a:r>
              <a:rPr lang="en-US" dirty="0" smtClean="0"/>
              <a:t> </a:t>
            </a:r>
            <a:r>
              <a:rPr lang="en-US" dirty="0" err="1"/>
              <a:t>načina</a:t>
            </a:r>
            <a:r>
              <a:rPr lang="en-US" dirty="0"/>
              <a:t> </a:t>
            </a:r>
            <a:r>
              <a:rPr lang="en-US" dirty="0" err="1"/>
              <a:t>izvršavanja</a:t>
            </a:r>
            <a:r>
              <a:rPr lang="en-US" dirty="0"/>
              <a:t> </a:t>
            </a:r>
            <a:r>
              <a:rPr lang="en-US" dirty="0" err="1" smtClean="0"/>
              <a:t>upita</a:t>
            </a:r>
            <a:endParaRPr lang="en-US" dirty="0" smtClean="0"/>
          </a:p>
          <a:p>
            <a:r>
              <a:rPr lang="en-US" dirty="0" smtClean="0"/>
              <a:t>Cost – </a:t>
            </a:r>
            <a:r>
              <a:rPr lang="en-US" dirty="0" err="1" smtClean="0"/>
              <a:t>procenjen</a:t>
            </a:r>
            <a:r>
              <a:rPr lang="en-US" dirty="0" smtClean="0"/>
              <a:t> </a:t>
            </a:r>
            <a:r>
              <a:rPr lang="en-US" dirty="0" err="1" smtClean="0"/>
              <a:t>trošak</a:t>
            </a:r>
            <a:endParaRPr lang="en-US" dirty="0" smtClean="0"/>
          </a:p>
          <a:p>
            <a:r>
              <a:rPr lang="en-US" dirty="0" smtClean="0"/>
              <a:t>Rows – </a:t>
            </a:r>
            <a:r>
              <a:rPr lang="en-US" dirty="0" err="1" smtClean="0"/>
              <a:t>procenjeni</a:t>
            </a:r>
            <a:r>
              <a:rPr lang="en-US" dirty="0" smtClean="0"/>
              <a:t> </a:t>
            </a:r>
            <a:r>
              <a:rPr lang="en-US" dirty="0" err="1" smtClean="0"/>
              <a:t>broj</a:t>
            </a:r>
            <a:r>
              <a:rPr lang="en-US" dirty="0" smtClean="0"/>
              <a:t> </a:t>
            </a:r>
            <a:r>
              <a:rPr lang="en-US" dirty="0" err="1" smtClean="0"/>
              <a:t>redova</a:t>
            </a:r>
            <a:endParaRPr lang="en-US" dirty="0" smtClean="0"/>
          </a:p>
          <a:p>
            <a:r>
              <a:rPr lang="en-US" dirty="0" smtClean="0"/>
              <a:t>Actual time - </a:t>
            </a:r>
            <a:r>
              <a:rPr lang="en-US" dirty="0" err="1" smtClean="0"/>
              <a:t>Stvarno</a:t>
            </a:r>
            <a:r>
              <a:rPr lang="en-US" dirty="0" smtClean="0"/>
              <a:t> </a:t>
            </a:r>
            <a:r>
              <a:rPr lang="en-US" dirty="0" err="1" smtClean="0"/>
              <a:t>vreme</a:t>
            </a:r>
            <a:r>
              <a:rPr lang="en-US" dirty="0" smtClean="0"/>
              <a:t> </a:t>
            </a:r>
            <a:r>
              <a:rPr lang="en-US" dirty="0" err="1" smtClean="0"/>
              <a:t>izvršavanja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50000"/>
          <a:stretch/>
        </p:blipFill>
        <p:spPr>
          <a:xfrm>
            <a:off x="457200" y="3962400"/>
            <a:ext cx="7086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572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dirty="0" err="1" smtClean="0"/>
              <a:t>Najvažnije</a:t>
            </a:r>
            <a:r>
              <a:rPr lang="en-US" dirty="0" smtClean="0"/>
              <a:t> </a:t>
            </a:r>
            <a:r>
              <a:rPr lang="en-US" dirty="0" err="1" smtClean="0"/>
              <a:t>operacije</a:t>
            </a:r>
            <a:r>
              <a:rPr lang="en-US" dirty="0" smtClean="0"/>
              <a:t> execution plan-a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4267200"/>
            <a:ext cx="7467600" cy="15209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Bitmap Heap </a:t>
            </a:r>
            <a:r>
              <a:rPr lang="en-US" dirty="0" smtClean="0"/>
              <a:t>Scan, </a:t>
            </a:r>
            <a:r>
              <a:rPr lang="en-US" dirty="0"/>
              <a:t>Nested Loop </a:t>
            </a:r>
            <a:r>
              <a:rPr lang="en-US" dirty="0" smtClean="0"/>
              <a:t>Join, </a:t>
            </a:r>
            <a:r>
              <a:rPr lang="en-US" dirty="0"/>
              <a:t>Hash </a:t>
            </a:r>
            <a:r>
              <a:rPr lang="en-US" dirty="0" smtClean="0"/>
              <a:t>Join, </a:t>
            </a:r>
            <a:r>
              <a:rPr lang="en-US" dirty="0"/>
              <a:t>Merge </a:t>
            </a:r>
            <a:r>
              <a:rPr lang="en-US" dirty="0" smtClean="0"/>
              <a:t>Join, Sort, Aggregate, Limit…</a:t>
            </a:r>
          </a:p>
          <a:p>
            <a:r>
              <a:rPr lang="en-US" dirty="0" err="1" smtClean="0"/>
              <a:t>PostgreSQL</a:t>
            </a:r>
            <a:r>
              <a:rPr lang="en-US" dirty="0" smtClean="0"/>
              <a:t> </a:t>
            </a:r>
            <a:r>
              <a:rPr lang="en-US" dirty="0" err="1"/>
              <a:t>bira</a:t>
            </a:r>
            <a:r>
              <a:rPr lang="en-US" dirty="0"/>
              <a:t> </a:t>
            </a:r>
            <a:r>
              <a:rPr lang="en-US" dirty="0" err="1"/>
              <a:t>strategiju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procene</a:t>
            </a:r>
            <a:r>
              <a:rPr lang="en-US" dirty="0"/>
              <a:t> </a:t>
            </a:r>
            <a:r>
              <a:rPr lang="en-US" dirty="0" err="1"/>
              <a:t>troškova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336346"/>
              </p:ext>
            </p:extLst>
          </p:nvPr>
        </p:nvGraphicFramePr>
        <p:xfrm>
          <a:off x="1066800" y="1676400"/>
          <a:ext cx="67056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</a:tblGrid>
              <a:tr h="4953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Operacija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Kada</a:t>
                      </a:r>
                      <a:r>
                        <a:rPr lang="en-US" dirty="0" smtClean="0"/>
                        <a:t> se </a:t>
                      </a:r>
                      <a:r>
                        <a:rPr lang="en-US" dirty="0" err="1" smtClean="0"/>
                        <a:t>koristi</a:t>
                      </a:r>
                      <a:endParaRPr lang="en-US" dirty="0"/>
                    </a:p>
                  </a:txBody>
                  <a:tcPr anchor="ctr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Seq</a:t>
                      </a:r>
                      <a:r>
                        <a:rPr lang="en-US" dirty="0" smtClean="0"/>
                        <a:t> Scan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Veliki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procenat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podataka</a:t>
                      </a:r>
                      <a:endParaRPr lang="en-US" dirty="0"/>
                    </a:p>
                  </a:txBody>
                  <a:tcPr anchor="ctr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 Scan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Visoka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selektivnost</a:t>
                      </a:r>
                      <a:endParaRPr lang="en-US" dirty="0"/>
                    </a:p>
                  </a:txBody>
                  <a:tcPr anchor="ctr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lang="en-US" dirty="0" smtClean="0"/>
                        <a:t>Bitmap Index</a:t>
                      </a:r>
                      <a:r>
                        <a:rPr lang="en-US" baseline="0" dirty="0" smtClean="0"/>
                        <a:t> Scan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Srednji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broj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rezultata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10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Eksperiment</a:t>
            </a:r>
            <a:r>
              <a:rPr lang="en-US" dirty="0" smtClean="0"/>
              <a:t>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Veliki</a:t>
            </a:r>
            <a:r>
              <a:rPr lang="en-US" dirty="0" smtClean="0"/>
              <a:t> </a:t>
            </a:r>
            <a:r>
              <a:rPr lang="en-US" dirty="0" err="1" smtClean="0"/>
              <a:t>broj</a:t>
            </a:r>
            <a:r>
              <a:rPr lang="en-US" dirty="0" smtClean="0"/>
              <a:t> </a:t>
            </a:r>
            <a:r>
              <a:rPr lang="en-US" dirty="0" err="1" smtClean="0"/>
              <a:t>rezulata</a:t>
            </a:r>
            <a:endParaRPr lang="en-US" dirty="0" smtClean="0"/>
          </a:p>
          <a:p>
            <a:r>
              <a:rPr lang="en-US" dirty="0" smtClean="0"/>
              <a:t>Mala </a:t>
            </a:r>
            <a:r>
              <a:rPr lang="en-US" dirty="0" err="1" smtClean="0"/>
              <a:t>selektivnost</a:t>
            </a:r>
            <a:r>
              <a:rPr lang="en-US" dirty="0" smtClean="0"/>
              <a:t> </a:t>
            </a:r>
            <a:r>
              <a:rPr lang="en-US" dirty="0" err="1" smtClean="0"/>
              <a:t>kolone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24490"/>
              </p:ext>
            </p:extLst>
          </p:nvPr>
        </p:nvGraphicFramePr>
        <p:xfrm>
          <a:off x="3915507" y="533400"/>
          <a:ext cx="4648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0"/>
                <a:gridCol w="23241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Bez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indeksa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 </a:t>
                      </a:r>
                      <a:r>
                        <a:rPr lang="en-US" dirty="0" err="1" smtClean="0"/>
                        <a:t>indeksom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Seq</a:t>
                      </a:r>
                      <a:r>
                        <a:rPr lang="en-US" dirty="0" smtClean="0"/>
                        <a:t> Scan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Bitmap Index Scan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37.651ms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21.395ms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533400" y="2590800"/>
            <a:ext cx="5943600" cy="403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8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Eksperiment</a:t>
            </a:r>
            <a:r>
              <a:rPr lang="en-US" dirty="0" smtClean="0"/>
              <a:t>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Primarni</a:t>
            </a:r>
            <a:r>
              <a:rPr lang="en-US" dirty="0" smtClean="0"/>
              <a:t> </a:t>
            </a:r>
            <a:r>
              <a:rPr lang="en-US" dirty="0" err="1" smtClean="0"/>
              <a:t>ključ</a:t>
            </a:r>
            <a:endParaRPr lang="en-US" dirty="0" smtClean="0"/>
          </a:p>
          <a:p>
            <a:r>
              <a:rPr lang="en-US" dirty="0" err="1" smtClean="0"/>
              <a:t>Visoka</a:t>
            </a:r>
            <a:r>
              <a:rPr lang="en-US" dirty="0" smtClean="0"/>
              <a:t> </a:t>
            </a:r>
            <a:r>
              <a:rPr lang="en-US" dirty="0" err="1" smtClean="0"/>
              <a:t>selektivnost</a:t>
            </a:r>
            <a:endParaRPr lang="en-US" dirty="0" smtClean="0"/>
          </a:p>
          <a:p>
            <a:r>
              <a:rPr lang="en-US" dirty="0" err="1" smtClean="0"/>
              <a:t>Direktan</a:t>
            </a:r>
            <a:r>
              <a:rPr lang="en-US" dirty="0" smtClean="0"/>
              <a:t> </a:t>
            </a:r>
            <a:r>
              <a:rPr lang="en-US" dirty="0" err="1" smtClean="0"/>
              <a:t>pristup</a:t>
            </a:r>
            <a:r>
              <a:rPr lang="en-US" dirty="0" smtClean="0"/>
              <a:t> </a:t>
            </a:r>
            <a:r>
              <a:rPr lang="en-US" dirty="0" err="1" smtClean="0"/>
              <a:t>podacima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33400" y="3124200"/>
            <a:ext cx="5943600" cy="354457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676760"/>
              </p:ext>
            </p:extLst>
          </p:nvPr>
        </p:nvGraphicFramePr>
        <p:xfrm>
          <a:off x="3962400" y="1295400"/>
          <a:ext cx="4648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0"/>
                <a:gridCol w="23241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Operacija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Vreme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Index Scan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3.413ms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878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Eksperiment</a:t>
            </a:r>
            <a:r>
              <a:rPr lang="en-US" dirty="0" smtClean="0"/>
              <a:t>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Izbegnuto</a:t>
            </a:r>
            <a:r>
              <a:rPr lang="en-US" dirty="0" smtClean="0"/>
              <a:t> </a:t>
            </a:r>
            <a:r>
              <a:rPr lang="en-US" dirty="0" err="1" smtClean="0"/>
              <a:t>dodatno</a:t>
            </a:r>
            <a:r>
              <a:rPr lang="en-US" dirty="0" smtClean="0"/>
              <a:t> </a:t>
            </a:r>
            <a:r>
              <a:rPr lang="en-US" dirty="0" err="1" smtClean="0"/>
              <a:t>sortiranje</a:t>
            </a:r>
            <a:endParaRPr lang="en-US" dirty="0" smtClean="0"/>
          </a:p>
          <a:p>
            <a:r>
              <a:rPr lang="en-US" dirty="0" smtClean="0"/>
              <a:t>B-tree </a:t>
            </a:r>
            <a:r>
              <a:rPr lang="en-US" dirty="0" err="1" smtClean="0"/>
              <a:t>indeks</a:t>
            </a:r>
            <a:r>
              <a:rPr lang="en-US" dirty="0" smtClean="0"/>
              <a:t> </a:t>
            </a:r>
            <a:r>
              <a:rPr lang="en-US" dirty="0" err="1" smtClean="0"/>
              <a:t>koristi</a:t>
            </a:r>
            <a:r>
              <a:rPr lang="en-US" dirty="0" smtClean="0"/>
              <a:t> sorted </a:t>
            </a:r>
            <a:r>
              <a:rPr lang="en-US" dirty="0" err="1" smtClean="0"/>
              <a:t>redosled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464914"/>
              </p:ext>
            </p:extLst>
          </p:nvPr>
        </p:nvGraphicFramePr>
        <p:xfrm>
          <a:off x="3915507" y="533400"/>
          <a:ext cx="4648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0"/>
                <a:gridCol w="23241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Bez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indeksa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 </a:t>
                      </a:r>
                      <a:r>
                        <a:rPr lang="en-US" dirty="0" err="1" smtClean="0"/>
                        <a:t>indeksom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1273.753ms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1.122ms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2667000"/>
            <a:ext cx="594360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01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Eksperimenti</a:t>
            </a:r>
            <a:r>
              <a:rPr lang="en-US" dirty="0" smtClean="0"/>
              <a:t> 4 i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Kompozitni</a:t>
            </a:r>
            <a:r>
              <a:rPr lang="en-US" dirty="0" smtClean="0"/>
              <a:t>/</a:t>
            </a:r>
            <a:r>
              <a:rPr lang="en-US" dirty="0" err="1" smtClean="0"/>
              <a:t>višekolonski</a:t>
            </a:r>
            <a:r>
              <a:rPr lang="en-US" dirty="0" smtClean="0"/>
              <a:t> </a:t>
            </a:r>
            <a:r>
              <a:rPr lang="en-US" dirty="0" err="1" smtClean="0"/>
              <a:t>upiti</a:t>
            </a:r>
            <a:endParaRPr lang="en-US" dirty="0" smtClean="0"/>
          </a:p>
          <a:p>
            <a:r>
              <a:rPr lang="en-US" dirty="0" err="1" smtClean="0"/>
              <a:t>Parcijalni</a:t>
            </a:r>
            <a:r>
              <a:rPr lang="en-US" dirty="0" smtClean="0"/>
              <a:t> </a:t>
            </a:r>
            <a:r>
              <a:rPr lang="en-US" dirty="0" err="1" smtClean="0"/>
              <a:t>upiti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500786"/>
              </p:ext>
            </p:extLst>
          </p:nvPr>
        </p:nvGraphicFramePr>
        <p:xfrm>
          <a:off x="609600" y="2667000"/>
          <a:ext cx="6553200" cy="2819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/>
                <a:gridCol w="2184400"/>
                <a:gridCol w="2184400"/>
              </a:tblGrid>
              <a:tr h="633281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Eksperiment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Bez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indeksa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Sa </a:t>
                      </a:r>
                      <a:r>
                        <a:rPr lang="en-US" dirty="0" err="1" smtClean="0"/>
                        <a:t>indeksom</a:t>
                      </a:r>
                      <a:endParaRPr lang="en-US" dirty="0"/>
                    </a:p>
                  </a:txBody>
                  <a:tcPr anchor="ctr"/>
                </a:tc>
              </a:tr>
              <a:tr h="1093060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Kompozitni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indeks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186.914ms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9.045ms</a:t>
                      </a:r>
                      <a:endParaRPr lang="en-US" dirty="0"/>
                    </a:p>
                  </a:txBody>
                  <a:tcPr anchor="ctr"/>
                </a:tc>
              </a:tr>
              <a:tr h="1093060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Parcijalni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indeks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369.014ms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45.581ms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011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Eksperiment</a:t>
            </a:r>
            <a:r>
              <a:rPr lang="en-US" dirty="0" smtClean="0"/>
              <a:t>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INSERT 10000 </a:t>
            </a:r>
            <a:r>
              <a:rPr lang="en-US" dirty="0" err="1" smtClean="0"/>
              <a:t>redova</a:t>
            </a:r>
            <a:endParaRPr lang="en-US" dirty="0" smtClean="0"/>
          </a:p>
          <a:p>
            <a:r>
              <a:rPr lang="en-US" dirty="0" err="1" smtClean="0"/>
              <a:t>Održavanje</a:t>
            </a:r>
            <a:r>
              <a:rPr lang="en-US" dirty="0" smtClean="0"/>
              <a:t> </a:t>
            </a:r>
            <a:r>
              <a:rPr lang="en-US" dirty="0" err="1" smtClean="0"/>
              <a:t>indeksnih</a:t>
            </a:r>
            <a:r>
              <a:rPr lang="en-US" dirty="0" smtClean="0"/>
              <a:t> </a:t>
            </a:r>
            <a:r>
              <a:rPr lang="en-US" dirty="0" err="1" smtClean="0"/>
              <a:t>struktura</a:t>
            </a:r>
            <a:endParaRPr lang="en-US" dirty="0" smtClean="0"/>
          </a:p>
          <a:p>
            <a:r>
              <a:rPr lang="en-US" dirty="0" err="1" smtClean="0"/>
              <a:t>Kompromis</a:t>
            </a:r>
            <a:r>
              <a:rPr lang="en-US" dirty="0" smtClean="0"/>
              <a:t> </a:t>
            </a:r>
            <a:r>
              <a:rPr lang="en-US" dirty="0" err="1" smtClean="0"/>
              <a:t>između</a:t>
            </a:r>
            <a:r>
              <a:rPr lang="en-US" dirty="0" smtClean="0"/>
              <a:t> </a:t>
            </a:r>
            <a:r>
              <a:rPr lang="en-US" dirty="0" err="1" smtClean="0"/>
              <a:t>čitanja</a:t>
            </a:r>
            <a:r>
              <a:rPr lang="en-US" dirty="0" smtClean="0"/>
              <a:t> i </a:t>
            </a:r>
            <a:r>
              <a:rPr lang="en-US" dirty="0" err="1" smtClean="0"/>
              <a:t>pisanja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85562"/>
              </p:ext>
            </p:extLst>
          </p:nvPr>
        </p:nvGraphicFramePr>
        <p:xfrm>
          <a:off x="4114800" y="762000"/>
          <a:ext cx="46482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0"/>
                <a:gridCol w="23241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Operacija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Vreme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INSERT </a:t>
                      </a:r>
                      <a:r>
                        <a:rPr lang="en-US" dirty="0" err="1" smtClean="0"/>
                        <a:t>sa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indeksima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2923.682ms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" y="3405553"/>
            <a:ext cx="5943600" cy="25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03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Zaključak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Indeksi</a:t>
            </a:r>
            <a:r>
              <a:rPr lang="en-US" dirty="0" smtClean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 smtClean="0"/>
              <a:t>važnu</a:t>
            </a:r>
            <a:r>
              <a:rPr lang="en-US" dirty="0" smtClean="0"/>
              <a:t> </a:t>
            </a:r>
            <a:r>
              <a:rPr lang="en-US" dirty="0" err="1"/>
              <a:t>ulogu</a:t>
            </a:r>
            <a:r>
              <a:rPr lang="en-US" dirty="0"/>
              <a:t> u </a:t>
            </a:r>
            <a:r>
              <a:rPr lang="en-US" dirty="0" err="1"/>
              <a:t>optimizaciji</a:t>
            </a:r>
            <a:r>
              <a:rPr lang="en-US" dirty="0"/>
              <a:t> </a:t>
            </a:r>
            <a:r>
              <a:rPr lang="en-US" dirty="0" err="1"/>
              <a:t>performansi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 smtClean="0"/>
              <a:t>podataka</a:t>
            </a:r>
            <a:endParaRPr lang="en-US" dirty="0" smtClean="0"/>
          </a:p>
          <a:p>
            <a:r>
              <a:rPr lang="en-US" dirty="0"/>
              <a:t>O</a:t>
            </a:r>
            <a:r>
              <a:rPr lang="en-US" dirty="0" smtClean="0"/>
              <a:t>ptimizer </a:t>
            </a:r>
            <a:r>
              <a:rPr lang="en-US" dirty="0" err="1"/>
              <a:t>bira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strategije</a:t>
            </a:r>
            <a:r>
              <a:rPr lang="en-US" dirty="0"/>
              <a:t> </a:t>
            </a:r>
            <a:r>
              <a:rPr lang="en-US" dirty="0" err="1" smtClean="0"/>
              <a:t>izvršavanja</a:t>
            </a:r>
            <a:endParaRPr lang="en-US" dirty="0" smtClean="0"/>
          </a:p>
          <a:p>
            <a:r>
              <a:rPr lang="en-US" dirty="0" err="1" smtClean="0"/>
              <a:t>Selektivnost</a:t>
            </a:r>
            <a:r>
              <a:rPr lang="en-US" dirty="0" smtClean="0"/>
              <a:t> </a:t>
            </a:r>
            <a:r>
              <a:rPr lang="en-US" dirty="0" err="1"/>
              <a:t>utiče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izbor</a:t>
            </a:r>
            <a:r>
              <a:rPr lang="en-US" dirty="0"/>
              <a:t> execution </a:t>
            </a:r>
            <a:r>
              <a:rPr lang="en-US" dirty="0" smtClean="0"/>
              <a:t>plan-a</a:t>
            </a:r>
          </a:p>
          <a:p>
            <a:r>
              <a:rPr lang="en-US" dirty="0" err="1" smtClean="0"/>
              <a:t>Indeksi</a:t>
            </a:r>
            <a:r>
              <a:rPr lang="en-US" dirty="0" smtClean="0"/>
              <a:t> </a:t>
            </a:r>
            <a:r>
              <a:rPr lang="en-US" dirty="0" err="1"/>
              <a:t>ubrzavaju</a:t>
            </a:r>
            <a:r>
              <a:rPr lang="en-US" dirty="0"/>
              <a:t> SELECT,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usporavaju</a:t>
            </a:r>
            <a:r>
              <a:rPr lang="en-US" dirty="0"/>
              <a:t> </a:t>
            </a:r>
            <a:r>
              <a:rPr lang="en-US" dirty="0" smtClean="0"/>
              <a:t>INSERT</a:t>
            </a:r>
          </a:p>
          <a:p>
            <a:r>
              <a:rPr lang="en-US" dirty="0" smtClean="0"/>
              <a:t>P</a:t>
            </a:r>
            <a:r>
              <a:rPr lang="vi-VN" dirty="0" smtClean="0"/>
              <a:t>otrebno </a:t>
            </a:r>
            <a:r>
              <a:rPr lang="en-US" dirty="0" smtClean="0"/>
              <a:t>je </a:t>
            </a:r>
            <a:r>
              <a:rPr lang="vi-VN" dirty="0" smtClean="0"/>
              <a:t>pronaći </a:t>
            </a:r>
            <a:r>
              <a:rPr lang="vi-VN" dirty="0"/>
              <a:t>odgovarajući balans između performansi čitanja i performansi izmene podataka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043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438400"/>
            <a:ext cx="6934200" cy="1143000"/>
          </a:xfrm>
        </p:spPr>
        <p:txBody>
          <a:bodyPr/>
          <a:lstStyle/>
          <a:p>
            <a:r>
              <a:rPr lang="en-US" dirty="0" smtClean="0"/>
              <a:t>HVALA NA PAŽNJI!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5085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90</TotalTime>
  <Words>377</Words>
  <Application>Microsoft Office PowerPoint</Application>
  <PresentationFormat>On-screen Show (4:3)</PresentationFormat>
  <Paragraphs>107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Oriel</vt:lpstr>
      <vt:lpstr>Upotreba indeksa i analiza izvršavanja upita u PostgreSQL bazi podataka </vt:lpstr>
      <vt:lpstr>Uvod</vt:lpstr>
      <vt:lpstr>Šta su indeksi?</vt:lpstr>
      <vt:lpstr>Prednosti i nedostaci indeksa</vt:lpstr>
      <vt:lpstr>Tipovi indeksa u PostgreSQL-u</vt:lpstr>
      <vt:lpstr>EXPLAIN I EXPLAIN ANALYZE</vt:lpstr>
      <vt:lpstr>Najvažnije operacije execution plan-a</vt:lpstr>
      <vt:lpstr>Eksperiment 1</vt:lpstr>
      <vt:lpstr>Eksperiment 2</vt:lpstr>
      <vt:lpstr>Eksperiment 3</vt:lpstr>
      <vt:lpstr>Eksperimenti 4 i 5</vt:lpstr>
      <vt:lpstr>Eksperiment 6</vt:lpstr>
      <vt:lpstr>Zaključak</vt:lpstr>
      <vt:lpstr>HVALA NA PAŽNJI!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 - [2010]</dc:creator>
  <cp:lastModifiedBy>ismail - [2010]</cp:lastModifiedBy>
  <cp:revision>9</cp:revision>
  <dcterms:created xsi:type="dcterms:W3CDTF">2026-05-12T20:59:16Z</dcterms:created>
  <dcterms:modified xsi:type="dcterms:W3CDTF">2026-05-12T22:29:38Z</dcterms:modified>
</cp:coreProperties>
</file>